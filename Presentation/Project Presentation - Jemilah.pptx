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 Bold" charset="1" panose="00000800000000000000"/>
      <p:regular r:id="rId11"/>
    </p:embeddedFont>
    <p:embeddedFont>
      <p:font typeface="Montserrat Italics" charset="1" panose="00000500000000000000"/>
      <p:regular r:id="rId12"/>
    </p:embeddedFont>
    <p:embeddedFont>
      <p:font typeface="Montserrat" charset="1" panose="00000500000000000000"/>
      <p:regular r:id="rId13"/>
    </p:embeddedFont>
    <p:embeddedFont>
      <p:font typeface="Montserrat Semi-Bold" charset="1" panose="00000700000000000000"/>
      <p:regular r:id="rId14"/>
    </p:embeddedFont>
    <p:embeddedFont>
      <p:font typeface="Montserrat Bold Italics" charset="1" panose="00000800000000000000"/>
      <p:regular r:id="rId15"/>
    </p:embeddedFont>
    <p:embeddedFont>
      <p:font typeface="Montserrat Semi-Bold Italics" charset="1" panose="00000700000000000000"/>
      <p:regular r:id="rId16"/>
    </p:embeddedFont>
    <p:embeddedFont>
      <p:font typeface="Montserrat Ultra-Bold" charset="1" panose="00000900000000000000"/>
      <p:regular r:id="rId17"/>
    </p:embeddedFont>
    <p:embeddedFont>
      <p:font typeface="Montserrat Medium Italics" charset="1" panose="000006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1826714"/>
            <a:ext cx="10657332" cy="96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3556" spc="-7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Reducing Overtime Dependency Among Full-Time Warehouse Associates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504" y="3140184"/>
            <a:ext cx="854049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514" i="true" spc="-50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Voice of Employee Analysis, Amazon Fulfillment Center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232" y="4759434"/>
            <a:ext cx="1335024" cy="84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8"/>
              </a:lnSpc>
            </a:pPr>
            <a:r>
              <a:rPr lang="en-US" sz="6073" spc="-121" b="true">
                <a:solidFill>
                  <a:srgbClr val="D326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232" y="5771388"/>
            <a:ext cx="208483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spc="-4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Pay/overtime mentions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476625" y="4714875"/>
            <a:ext cx="228600" cy="3219450"/>
          </a:xfrm>
          <a:custGeom>
            <a:avLst/>
            <a:gdLst/>
            <a:ahLst/>
            <a:cxnLst/>
            <a:rect r="r" b="b" t="t" l="l"/>
            <a:pathLst>
              <a:path h="3219450" w="228600">
                <a:moveTo>
                  <a:pt x="0" y="0"/>
                </a:moveTo>
                <a:lnTo>
                  <a:pt x="228600" y="0"/>
                </a:lnTo>
                <a:lnTo>
                  <a:pt x="22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51376" y="4801631"/>
            <a:ext cx="1225296" cy="82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3"/>
              </a:lnSpc>
            </a:pPr>
            <a:r>
              <a:rPr lang="en-US" sz="6012" spc="-120" b="true">
                <a:solidFill>
                  <a:srgbClr val="D326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51376" y="5792153"/>
            <a:ext cx="184708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spc="-4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Full-Time Warehouse Associates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4625" y="4714875"/>
            <a:ext cx="447675" cy="3219450"/>
          </a:xfrm>
          <a:custGeom>
            <a:avLst/>
            <a:gdLst/>
            <a:ahLst/>
            <a:cxnLst/>
            <a:rect r="r" b="b" t="t" l="l"/>
            <a:pathLst>
              <a:path h="3219450" w="447675">
                <a:moveTo>
                  <a:pt x="0" y="0"/>
                </a:moveTo>
                <a:lnTo>
                  <a:pt x="447675" y="0"/>
                </a:lnTo>
                <a:lnTo>
                  <a:pt x="447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60336" y="4797499"/>
            <a:ext cx="1700784" cy="84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4"/>
              </a:lnSpc>
            </a:pPr>
            <a:r>
              <a:rPr lang="en-US" sz="6041" spc="-120" b="true">
                <a:solidFill>
                  <a:srgbClr val="D326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60336" y="5771388"/>
            <a:ext cx="177393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59" spc="-4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Negative sentiment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8625" y="7924800"/>
            <a:ext cx="10146603" cy="1933575"/>
          </a:xfrm>
          <a:custGeom>
            <a:avLst/>
            <a:gdLst/>
            <a:ahLst/>
            <a:cxnLst/>
            <a:rect r="r" b="b" t="t" l="l"/>
            <a:pathLst>
              <a:path h="1933575" w="10146603">
                <a:moveTo>
                  <a:pt x="0" y="0"/>
                </a:moveTo>
                <a:lnTo>
                  <a:pt x="10146603" y="0"/>
                </a:lnTo>
                <a:lnTo>
                  <a:pt x="10146603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83" r="0" b="-6783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8625" y="7924800"/>
            <a:ext cx="447675" cy="1933575"/>
          </a:xfrm>
          <a:custGeom>
            <a:avLst/>
            <a:gdLst/>
            <a:ahLst/>
            <a:cxnLst/>
            <a:rect r="r" b="b" t="t" l="l"/>
            <a:pathLst>
              <a:path h="1933575" w="447675">
                <a:moveTo>
                  <a:pt x="0" y="0"/>
                </a:moveTo>
                <a:lnTo>
                  <a:pt x="447675" y="0"/>
                </a:lnTo>
                <a:lnTo>
                  <a:pt x="447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761" r="-5761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97661" y="8134350"/>
            <a:ext cx="9881993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spc="-55" b="true">
                <a:solidFill>
                  <a:srgbClr val="D3261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ask</a:t>
            </a:r>
          </a:p>
          <a:p>
            <a:pPr algn="l">
              <a:lnSpc>
                <a:spcPts val="3357"/>
              </a:lnSpc>
            </a:pPr>
            <a:r>
              <a:rPr lang="en-US" sz="2797" spc="-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Pilot</a:t>
            </a:r>
            <a:r>
              <a:rPr lang="en-US" sz="2797" spc="-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 recovery-time option to reduce overtime dependency and improve associate well-being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43091" y="6200775"/>
            <a:ext cx="114300" cy="1724025"/>
          </a:xfrm>
          <a:custGeom>
            <a:avLst/>
            <a:gdLst/>
            <a:ahLst/>
            <a:cxnLst/>
            <a:rect r="r" b="b" t="t" l="l"/>
            <a:pathLst>
              <a:path h="1724025" w="114300">
                <a:moveTo>
                  <a:pt x="0" y="0"/>
                </a:moveTo>
                <a:lnTo>
                  <a:pt x="114300" y="0"/>
                </a:lnTo>
                <a:lnTo>
                  <a:pt x="1143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000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98729" y="361950"/>
            <a:ext cx="7089271" cy="10077450"/>
          </a:xfrm>
          <a:custGeom>
            <a:avLst/>
            <a:gdLst/>
            <a:ahLst/>
            <a:cxnLst/>
            <a:rect r="r" b="b" t="t" l="l"/>
            <a:pathLst>
              <a:path h="10077450" w="7089271">
                <a:moveTo>
                  <a:pt x="0" y="0"/>
                </a:moveTo>
                <a:lnTo>
                  <a:pt x="7089271" y="0"/>
                </a:lnTo>
                <a:lnTo>
                  <a:pt x="7089271" y="10077450"/>
                </a:lnTo>
                <a:lnTo>
                  <a:pt x="0" y="10077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36" t="0" r="-2149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127492" y="9839325"/>
            <a:ext cx="2936181" cy="31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2"/>
              </a:lnSpc>
              <a:spcBef>
                <a:spcPct val="0"/>
              </a:spcBef>
            </a:pPr>
            <a:r>
              <a:rPr lang="en-US" sz="2001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Jemilah Damilola Alao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475" r="0" b="-6347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8368" y="554001"/>
            <a:ext cx="17629632" cy="145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55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Associates are working unsustainable hours just to make ends meet.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31886" y="3078875"/>
            <a:ext cx="17115041" cy="1773197"/>
          </a:xfrm>
          <a:custGeom>
            <a:avLst/>
            <a:gdLst/>
            <a:ahLst/>
            <a:cxnLst/>
            <a:rect r="r" b="b" t="t" l="l"/>
            <a:pathLst>
              <a:path h="1773197" w="17115041">
                <a:moveTo>
                  <a:pt x="0" y="0"/>
                </a:moveTo>
                <a:lnTo>
                  <a:pt x="17115040" y="0"/>
                </a:lnTo>
                <a:lnTo>
                  <a:pt x="17115040" y="1773197"/>
                </a:lnTo>
                <a:lnTo>
                  <a:pt x="0" y="1773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2245" r="0" b="-8546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127" y="2943749"/>
            <a:ext cx="47625" cy="1853635"/>
          </a:xfrm>
          <a:custGeom>
            <a:avLst/>
            <a:gdLst/>
            <a:ahLst/>
            <a:cxnLst/>
            <a:rect r="r" b="b" t="t" l="l"/>
            <a:pathLst>
              <a:path h="1853635" w="47625">
                <a:moveTo>
                  <a:pt x="0" y="0"/>
                </a:moveTo>
                <a:lnTo>
                  <a:pt x="47625" y="0"/>
                </a:lnTo>
                <a:lnTo>
                  <a:pt x="47625" y="1853635"/>
                </a:lnTo>
                <a:lnTo>
                  <a:pt x="0" y="1853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920" t="0" r="-431038" b="-5370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76300" y="3432120"/>
            <a:ext cx="15960852" cy="450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58" i="true" b="true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“I worked 60 hours in that warehouse and barely made $1,000…”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8652" y="4247761"/>
            <a:ext cx="6056072" cy="281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947" i="true" b="true">
                <a:solidFill>
                  <a:srgbClr val="FFFFFF"/>
                </a:solidFill>
                <a:latin typeface="Montserrat Semi-Bold Italics"/>
                <a:ea typeface="Montserrat Semi-Bold Italics"/>
                <a:cs typeface="Montserrat Semi-Bold Italics"/>
                <a:sym typeface="Montserrat Semi-Bold Italics"/>
              </a:rPr>
              <a:t>— Fulfillment Associate, YouTube testimonial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928616" y="6210300"/>
            <a:ext cx="51435" cy="1724025"/>
          </a:xfrm>
          <a:custGeom>
            <a:avLst/>
            <a:gdLst/>
            <a:ahLst/>
            <a:cxnLst/>
            <a:rect r="r" b="b" t="t" l="l"/>
            <a:pathLst>
              <a:path h="1724025" w="51435">
                <a:moveTo>
                  <a:pt x="0" y="0"/>
                </a:moveTo>
                <a:lnTo>
                  <a:pt x="51435" y="0"/>
                </a:lnTo>
                <a:lnTo>
                  <a:pt x="5143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710000" t="-2055000" r="-901111" b="-205500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32479" y="5757072"/>
            <a:ext cx="1664208" cy="97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1"/>
              </a:lnSpc>
            </a:pPr>
            <a:r>
              <a:rPr lang="en-US" sz="6874" b="true">
                <a:solidFill>
                  <a:srgbClr val="E6332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15%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03320" y="6832024"/>
            <a:ext cx="2450592" cy="26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876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Negative segment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10868" y="5747305"/>
            <a:ext cx="1207008" cy="982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2"/>
              </a:lnSpc>
            </a:pPr>
            <a:r>
              <a:rPr lang="en-US" sz="6893" b="true">
                <a:solidFill>
                  <a:srgbClr val="E6332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4x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71626" y="6822499"/>
            <a:ext cx="2340864" cy="26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84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more complaints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7700" y="8048625"/>
            <a:ext cx="16899226" cy="1209675"/>
          </a:xfrm>
          <a:custGeom>
            <a:avLst/>
            <a:gdLst/>
            <a:ahLst/>
            <a:cxnLst/>
            <a:rect r="r" b="b" t="t" l="l"/>
            <a:pathLst>
              <a:path h="1209675" w="16899226">
                <a:moveTo>
                  <a:pt x="0" y="0"/>
                </a:moveTo>
                <a:lnTo>
                  <a:pt x="16899226" y="0"/>
                </a:lnTo>
                <a:lnTo>
                  <a:pt x="16899226" y="1209675"/>
                </a:lnTo>
                <a:lnTo>
                  <a:pt x="0" y="1209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2228" r="0" b="-16129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8026" y="7983615"/>
            <a:ext cx="47625" cy="1142887"/>
          </a:xfrm>
          <a:custGeom>
            <a:avLst/>
            <a:gdLst/>
            <a:ahLst/>
            <a:cxnLst/>
            <a:rect r="r" b="b" t="t" l="l"/>
            <a:pathLst>
              <a:path h="1142887" w="47625">
                <a:moveTo>
                  <a:pt x="0" y="0"/>
                </a:moveTo>
                <a:lnTo>
                  <a:pt x="47625" y="0"/>
                </a:lnTo>
                <a:lnTo>
                  <a:pt x="47625" y="1142887"/>
                </a:lnTo>
                <a:lnTo>
                  <a:pt x="0" y="11428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681" t="-5146" r="-358318" b="-8320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98448" y="8358795"/>
            <a:ext cx="16248478" cy="68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Full-Time Warehouse Associates are experiencing overtime pressure because base pay doesn’t meet their income needs, leading to burnout and increased turnover risk.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743949"/>
            <a:ext cx="9253728" cy="94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7016" spc="-14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Target Segment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44" y="2568112"/>
            <a:ext cx="4133088" cy="37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337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ASSOCIATE SEGMENT SIZE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944" y="3551126"/>
            <a:ext cx="3127248" cy="3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Full-Time Associates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495800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4944" y="5042741"/>
            <a:ext cx="3182112" cy="38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Part-Time Associates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7700" y="5781675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4944" y="6318000"/>
            <a:ext cx="2359152" cy="85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Management &amp; Specialized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7286625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4944" y="7805441"/>
            <a:ext cx="1700784" cy="7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44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Contract &amp; Temporary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7700" y="8782050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3850" y="3000375"/>
            <a:ext cx="228600" cy="6000750"/>
          </a:xfrm>
          <a:custGeom>
            <a:avLst/>
            <a:gdLst/>
            <a:ahLst/>
            <a:cxnLst/>
            <a:rect r="r" b="b" t="t" l="l"/>
            <a:pathLst>
              <a:path h="6000750" w="228600">
                <a:moveTo>
                  <a:pt x="0" y="0"/>
                </a:moveTo>
                <a:lnTo>
                  <a:pt x="228600" y="0"/>
                </a:lnTo>
                <a:lnTo>
                  <a:pt x="2286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33850" y="3209925"/>
            <a:ext cx="4581525" cy="1076325"/>
          </a:xfrm>
          <a:custGeom>
            <a:avLst/>
            <a:gdLst/>
            <a:ahLst/>
            <a:cxnLst/>
            <a:rect r="r" b="b" t="t" l="l"/>
            <a:pathLst>
              <a:path h="1076325" w="4581525">
                <a:moveTo>
                  <a:pt x="0" y="0"/>
                </a:moveTo>
                <a:lnTo>
                  <a:pt x="4581525" y="0"/>
                </a:lnTo>
                <a:lnTo>
                  <a:pt x="4581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06256" y="3536796"/>
            <a:ext cx="768096" cy="62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12"/>
              </a:lnSpc>
            </a:pPr>
            <a:r>
              <a:rPr lang="en-US" b="true" sz="4712" spc="-94">
                <a:solidFill>
                  <a:srgbClr val="E63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88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133850" y="4714875"/>
            <a:ext cx="1962150" cy="1076325"/>
          </a:xfrm>
          <a:custGeom>
            <a:avLst/>
            <a:gdLst/>
            <a:ahLst/>
            <a:cxnLst/>
            <a:rect r="r" b="b" t="t" l="l"/>
            <a:pathLst>
              <a:path h="1076325" w="1962150">
                <a:moveTo>
                  <a:pt x="0" y="0"/>
                </a:moveTo>
                <a:lnTo>
                  <a:pt x="1962150" y="0"/>
                </a:lnTo>
                <a:lnTo>
                  <a:pt x="1962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06256" y="5010072"/>
            <a:ext cx="768096" cy="6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1"/>
              </a:lnSpc>
            </a:pPr>
            <a:r>
              <a:rPr lang="en-US" b="true" sz="5031" spc="-100">
                <a:solidFill>
                  <a:srgbClr val="E63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133850" y="621030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06256" y="6487815"/>
            <a:ext cx="621792" cy="63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18"/>
              </a:lnSpc>
            </a:pPr>
            <a:r>
              <a:rPr lang="en-US" b="true" sz="4818" spc="-96">
                <a:solidFill>
                  <a:srgbClr val="E63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133850" y="771525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979408" y="7962441"/>
            <a:ext cx="347472" cy="6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31"/>
              </a:lnSpc>
            </a:pPr>
            <a:r>
              <a:rPr lang="en-US" b="true" sz="5031" spc="-100">
                <a:solidFill>
                  <a:srgbClr val="E63C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426370" y="1924050"/>
            <a:ext cx="6832930" cy="4724400"/>
          </a:xfrm>
          <a:custGeom>
            <a:avLst/>
            <a:gdLst/>
            <a:ahLst/>
            <a:cxnLst/>
            <a:rect r="r" b="b" t="t" l="l"/>
            <a:pathLst>
              <a:path h="4724400" w="6832930">
                <a:moveTo>
                  <a:pt x="0" y="0"/>
                </a:moveTo>
                <a:lnTo>
                  <a:pt x="6832930" y="0"/>
                </a:lnTo>
                <a:lnTo>
                  <a:pt x="683293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082" t="0" r="-557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789920" y="2586486"/>
            <a:ext cx="4553712" cy="35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23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THIS SEGMENT MATTERS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26496" y="3363986"/>
            <a:ext cx="3639312" cy="36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Largest workforce group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26496" y="4105187"/>
            <a:ext cx="4425696" cy="37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2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Most pay/overtime complaints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26496" y="4865888"/>
            <a:ext cx="4195382" cy="36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Highest negative sentiment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26496" y="5627126"/>
            <a:ext cx="6199632" cy="361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3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Clear burnout and turnover risk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426370" y="7170543"/>
            <a:ext cx="6832930" cy="2259207"/>
          </a:xfrm>
          <a:custGeom>
            <a:avLst/>
            <a:gdLst/>
            <a:ahLst/>
            <a:cxnLst/>
            <a:rect r="r" b="b" t="t" l="l"/>
            <a:pathLst>
              <a:path h="2259207" w="6832930">
                <a:moveTo>
                  <a:pt x="0" y="0"/>
                </a:moveTo>
                <a:lnTo>
                  <a:pt x="6832930" y="0"/>
                </a:lnTo>
                <a:lnTo>
                  <a:pt x="6832930" y="2259207"/>
                </a:lnTo>
                <a:lnTo>
                  <a:pt x="0" y="22592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082" t="-23531" r="-5575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771632" y="7307994"/>
            <a:ext cx="2487168" cy="35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219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PRIORITY SCORE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71632" y="7972697"/>
            <a:ext cx="6254496" cy="944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spc="-14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× 4 × 5 = 100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695654"/>
            <a:ext cx="17366743" cy="142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9"/>
              </a:lnSpc>
            </a:pPr>
            <a:r>
              <a:rPr lang="en-US" sz="6032" spc="-12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 recovery time as an alternative to excessive overtime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2571750"/>
            <a:ext cx="16830675" cy="1574891"/>
          </a:xfrm>
          <a:custGeom>
            <a:avLst/>
            <a:gdLst/>
            <a:ahLst/>
            <a:cxnLst/>
            <a:rect r="r" b="b" t="t" l="l"/>
            <a:pathLst>
              <a:path h="1574891" w="16830675">
                <a:moveTo>
                  <a:pt x="0" y="0"/>
                </a:moveTo>
                <a:lnTo>
                  <a:pt x="16830675" y="0"/>
                </a:lnTo>
                <a:lnTo>
                  <a:pt x="16830675" y="1574891"/>
                </a:lnTo>
                <a:lnTo>
                  <a:pt x="0" y="1574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523" r="-3423" b="-5860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2571750"/>
            <a:ext cx="372017" cy="1780932"/>
          </a:xfrm>
          <a:custGeom>
            <a:avLst/>
            <a:gdLst/>
            <a:ahLst/>
            <a:cxnLst/>
            <a:rect r="r" b="b" t="t" l="l"/>
            <a:pathLst>
              <a:path h="1780932" w="372017">
                <a:moveTo>
                  <a:pt x="0" y="0"/>
                </a:moveTo>
                <a:lnTo>
                  <a:pt x="372017" y="0"/>
                </a:lnTo>
                <a:lnTo>
                  <a:pt x="372017" y="1780932"/>
                </a:lnTo>
                <a:lnTo>
                  <a:pt x="0" y="1780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3040" y="2868358"/>
            <a:ext cx="1612933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3045" i="true" b="true">
                <a:solidFill>
                  <a:srgbClr val="FFFFFF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How might we give associates paid recovery time well-being without reducing income?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06504" y="5722066"/>
            <a:ext cx="5214288" cy="998108"/>
          </a:xfrm>
          <a:custGeom>
            <a:avLst/>
            <a:gdLst/>
            <a:ahLst/>
            <a:cxnLst/>
            <a:rect r="r" b="b" t="t" l="l"/>
            <a:pathLst>
              <a:path h="998108" w="5214288">
                <a:moveTo>
                  <a:pt x="0" y="0"/>
                </a:moveTo>
                <a:lnTo>
                  <a:pt x="5214289" y="0"/>
                </a:lnTo>
                <a:lnTo>
                  <a:pt x="5214289" y="998108"/>
                </a:lnTo>
                <a:lnTo>
                  <a:pt x="0" y="998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9672" r="-8238" b="-19763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7207" y="5291926"/>
            <a:ext cx="23128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b="true" sz="2203">
                <a:solidFill>
                  <a:srgbClr val="E636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PEOPLE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" y="5869704"/>
            <a:ext cx="4825650" cy="744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2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Supervisors and Ambassadors</a:t>
            </a:r>
          </a:p>
          <a:p>
            <a:pPr algn="ctr">
              <a:lnSpc>
                <a:spcPts val="3058"/>
              </a:lnSpc>
            </a:pPr>
            <a:r>
              <a:rPr lang="en-US" sz="218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0893" y="5625301"/>
            <a:ext cx="5153142" cy="1094873"/>
          </a:xfrm>
          <a:custGeom>
            <a:avLst/>
            <a:gdLst/>
            <a:ahLst/>
            <a:cxnLst/>
            <a:rect r="r" b="b" t="t" l="l"/>
            <a:pathLst>
              <a:path h="1094873" w="5153142">
                <a:moveTo>
                  <a:pt x="0" y="0"/>
                </a:moveTo>
                <a:lnTo>
                  <a:pt x="5153142" y="0"/>
                </a:lnTo>
                <a:lnTo>
                  <a:pt x="5153142" y="1094873"/>
                </a:lnTo>
                <a:lnTo>
                  <a:pt x="0" y="1094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50" t="-38594" r="0" b="-23601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34808" y="5253826"/>
            <a:ext cx="201831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b="true" sz="2233">
                <a:solidFill>
                  <a:srgbClr val="E636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2361" y="5683966"/>
            <a:ext cx="5291674" cy="72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Employees choice and simple </a:t>
            </a:r>
          </a:p>
          <a:p>
            <a:pPr algn="ctr">
              <a:lnSpc>
                <a:spcPts val="2982"/>
              </a:lnSpc>
            </a:pPr>
            <a:r>
              <a:rPr lang="en-US" sz="21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tracking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469425" y="5306213"/>
            <a:ext cx="4534953" cy="1413961"/>
          </a:xfrm>
          <a:custGeom>
            <a:avLst/>
            <a:gdLst/>
            <a:ahLst/>
            <a:cxnLst/>
            <a:rect r="r" b="b" t="t" l="l"/>
            <a:pathLst>
              <a:path h="1413961" w="4534953">
                <a:moveTo>
                  <a:pt x="0" y="0"/>
                </a:moveTo>
                <a:lnTo>
                  <a:pt x="4534952" y="0"/>
                </a:lnTo>
                <a:lnTo>
                  <a:pt x="4534952" y="1413961"/>
                </a:lnTo>
                <a:lnTo>
                  <a:pt x="0" y="14139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067" t="0" r="-29989" b="-31434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53166" y="5234776"/>
            <a:ext cx="216747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4"/>
              </a:lnSpc>
            </a:pPr>
            <a:r>
              <a:rPr lang="en-US" b="true" sz="2270">
                <a:solidFill>
                  <a:srgbClr val="E636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9425" y="5869704"/>
            <a:ext cx="4534953" cy="355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3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existing scheduling tools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28625" y="8353425"/>
            <a:ext cx="16575752" cy="1504950"/>
          </a:xfrm>
          <a:custGeom>
            <a:avLst/>
            <a:gdLst/>
            <a:ahLst/>
            <a:cxnLst/>
            <a:rect r="r" b="b" t="t" l="l"/>
            <a:pathLst>
              <a:path h="1504950" w="16575752">
                <a:moveTo>
                  <a:pt x="0" y="0"/>
                </a:moveTo>
                <a:lnTo>
                  <a:pt x="16575752" y="0"/>
                </a:lnTo>
                <a:lnTo>
                  <a:pt x="16575752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373" r="0" b="-1337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60151" y="8547467"/>
            <a:ext cx="1544040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4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 e-commerce fulfillment center combined smarter scheduling with employee shift preferences. Within 8 months, overtime expenses reduced by 32% and turnover decreased by 24%.</a:t>
            </a:r>
          </a:p>
          <a:p>
            <a:pPr algn="l">
              <a:lnSpc>
                <a:spcPts val="2090"/>
              </a:lnSpc>
            </a:pPr>
            <a:r>
              <a:rPr lang="en-US" sz="1741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Source: MyShyft, “Warehouse Workforce Optimization”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28625" y="8353425"/>
            <a:ext cx="447675" cy="1504950"/>
          </a:xfrm>
          <a:custGeom>
            <a:avLst/>
            <a:gdLst/>
            <a:ahLst/>
            <a:cxnLst/>
            <a:rect r="r" b="b" t="t" l="l"/>
            <a:pathLst>
              <a:path h="1504950" w="447675">
                <a:moveTo>
                  <a:pt x="0" y="0"/>
                </a:moveTo>
                <a:lnTo>
                  <a:pt x="447675" y="0"/>
                </a:lnTo>
                <a:lnTo>
                  <a:pt x="44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714756"/>
            <a:ext cx="6620256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7583" spc="-22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Pilot Plan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7700" y="2352675"/>
            <a:ext cx="11334750" cy="5120144"/>
          </a:xfrm>
          <a:custGeom>
            <a:avLst/>
            <a:gdLst/>
            <a:ahLst/>
            <a:cxnLst/>
            <a:rect r="r" b="b" t="t" l="l"/>
            <a:pathLst>
              <a:path h="5120144" w="11334750">
                <a:moveTo>
                  <a:pt x="0" y="0"/>
                </a:moveTo>
                <a:lnTo>
                  <a:pt x="11334750" y="0"/>
                </a:lnTo>
                <a:lnTo>
                  <a:pt x="11334750" y="5120144"/>
                </a:lnTo>
                <a:lnTo>
                  <a:pt x="0" y="5120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73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3584" y="3187256"/>
            <a:ext cx="93268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b="true" sz="2301" spc="-69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3584" y="3673602"/>
            <a:ext cx="175564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5"/>
              </a:lnSpc>
            </a:pPr>
            <a:r>
              <a:rPr lang="en-US" sz="3613" spc="-10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5850" y="4286250"/>
            <a:ext cx="2181225" cy="428625"/>
          </a:xfrm>
          <a:custGeom>
            <a:avLst/>
            <a:gdLst/>
            <a:ahLst/>
            <a:cxnLst/>
            <a:rect r="r" b="b" t="t" l="l"/>
            <a:pathLst>
              <a:path h="428625" w="2181225">
                <a:moveTo>
                  <a:pt x="0" y="0"/>
                </a:moveTo>
                <a:lnTo>
                  <a:pt x="2181225" y="0"/>
                </a:lnTo>
                <a:lnTo>
                  <a:pt x="2181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584" y="4826815"/>
            <a:ext cx="2249424" cy="83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266" spc="-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Launch and communicate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95700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19472" y="3172968"/>
            <a:ext cx="10058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b="true" sz="2337" spc="-70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19472" y="3659314"/>
            <a:ext cx="243230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790" spc="-11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Weeks 1-4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781550" y="4286250"/>
            <a:ext cx="2409825" cy="428625"/>
          </a:xfrm>
          <a:custGeom>
            <a:avLst/>
            <a:gdLst/>
            <a:ahLst/>
            <a:cxnLst/>
            <a:rect r="r" b="b" t="t" l="l"/>
            <a:pathLst>
              <a:path h="428625" w="2409825">
                <a:moveTo>
                  <a:pt x="0" y="0"/>
                </a:moveTo>
                <a:lnTo>
                  <a:pt x="2409825" y="0"/>
                </a:lnTo>
                <a:lnTo>
                  <a:pt x="24098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919472" y="4790741"/>
            <a:ext cx="2249424" cy="88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372" spc="-7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Enrollment and usage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400925" y="36385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50224" y="3172968"/>
            <a:ext cx="10058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b="true" sz="2337" spc="-70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50224" y="3664077"/>
            <a:ext cx="252374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3"/>
              </a:lnSpc>
            </a:pPr>
            <a:r>
              <a:rPr lang="en-US" sz="3719" spc="-1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Weeks 4-8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86775" y="4286250"/>
            <a:ext cx="2400300" cy="428625"/>
          </a:xfrm>
          <a:custGeom>
            <a:avLst/>
            <a:gdLst/>
            <a:ahLst/>
            <a:cxnLst/>
            <a:rect r="r" b="b" t="t" l="l"/>
            <a:pathLst>
              <a:path h="428625" w="2400300">
                <a:moveTo>
                  <a:pt x="0" y="0"/>
                </a:moveTo>
                <a:lnTo>
                  <a:pt x="2400300" y="0"/>
                </a:lnTo>
                <a:lnTo>
                  <a:pt x="2400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650224" y="4800473"/>
            <a:ext cx="2523744" cy="88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443" spc="-7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Monitor and evaluate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192000" y="2352675"/>
            <a:ext cx="5448300" cy="2581275"/>
          </a:xfrm>
          <a:custGeom>
            <a:avLst/>
            <a:gdLst/>
            <a:ahLst/>
            <a:cxnLst/>
            <a:rect r="r" b="b" t="t" l="l"/>
            <a:pathLst>
              <a:path h="2581275" w="5448300">
                <a:moveTo>
                  <a:pt x="0" y="0"/>
                </a:moveTo>
                <a:lnTo>
                  <a:pt x="5448300" y="0"/>
                </a:lnTo>
                <a:lnTo>
                  <a:pt x="5448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783312" y="3119247"/>
            <a:ext cx="109728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b="true" sz="2124" spc="-63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OWNER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83312" y="3648837"/>
            <a:ext cx="385876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762" spc="-8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Learning Ambassador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192000" y="4924425"/>
            <a:ext cx="5448300" cy="2790825"/>
          </a:xfrm>
          <a:custGeom>
            <a:avLst/>
            <a:gdLst/>
            <a:ahLst/>
            <a:cxnLst/>
            <a:rect r="r" b="b" t="t" l="l"/>
            <a:pathLst>
              <a:path h="2790825" w="5448300">
                <a:moveTo>
                  <a:pt x="0" y="0"/>
                </a:moveTo>
                <a:lnTo>
                  <a:pt x="5448300" y="0"/>
                </a:lnTo>
                <a:lnTo>
                  <a:pt x="5448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783312" y="5420297"/>
            <a:ext cx="24871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b="true" sz="2266" spc="-67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SUCCESS SIGNAL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83312" y="6045866"/>
            <a:ext cx="3474720" cy="164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975" spc="-8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Recovery time usage + Weekly sentiment improvement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7700" y="7715250"/>
            <a:ext cx="16992600" cy="2143125"/>
          </a:xfrm>
          <a:custGeom>
            <a:avLst/>
            <a:gdLst/>
            <a:ahLst/>
            <a:cxnLst/>
            <a:rect r="r" b="b" t="t" l="l"/>
            <a:pathLst>
              <a:path h="2143125" w="16992600">
                <a:moveTo>
                  <a:pt x="0" y="0"/>
                </a:moveTo>
                <a:lnTo>
                  <a:pt x="16992600" y="0"/>
                </a:lnTo>
                <a:lnTo>
                  <a:pt x="169926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773936" y="8537829"/>
            <a:ext cx="193852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b="true" sz="3365" spc="-100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Low-cost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781550" y="7924800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687568" y="8542592"/>
            <a:ext cx="26151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2"/>
              </a:lnSpc>
            </a:pPr>
            <a:r>
              <a:rPr lang="en-US" b="true" sz="3294" spc="-98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High-impact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924925" y="7924800"/>
            <a:ext cx="219075" cy="1724025"/>
          </a:xfrm>
          <a:custGeom>
            <a:avLst/>
            <a:gdLst/>
            <a:ahLst/>
            <a:cxnLst/>
            <a:rect r="r" b="b" t="t" l="l"/>
            <a:pathLst>
              <a:path h="1724025" w="219075">
                <a:moveTo>
                  <a:pt x="0" y="0"/>
                </a:moveTo>
                <a:lnTo>
                  <a:pt x="219075" y="0"/>
                </a:lnTo>
                <a:lnTo>
                  <a:pt x="219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96144" y="8547354"/>
            <a:ext cx="19568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b="true" sz="3329" spc="-99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Team-led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277850" y="7924800"/>
            <a:ext cx="228600" cy="1724025"/>
          </a:xfrm>
          <a:custGeom>
            <a:avLst/>
            <a:gdLst/>
            <a:ahLst/>
            <a:cxnLst/>
            <a:rect r="r" b="b" t="t" l="l"/>
            <a:pathLst>
              <a:path h="1724025" w="228600">
                <a:moveTo>
                  <a:pt x="0" y="0"/>
                </a:moveTo>
                <a:lnTo>
                  <a:pt x="228600" y="0"/>
                </a:lnTo>
                <a:lnTo>
                  <a:pt x="228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301216" y="8537829"/>
            <a:ext cx="2468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b="true" sz="3365" spc="-100">
                <a:solidFill>
                  <a:srgbClr val="C129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DAHS5KgyCQ0</dc:identifier>
  <dcterms:modified xsi:type="dcterms:W3CDTF">2011-08-01T06:04:30Z</dcterms:modified>
  <cp:revision>1</cp:revision>
  <dc:title>Project Presentation - Jemilah</dc:title>
</cp:coreProperties>
</file>